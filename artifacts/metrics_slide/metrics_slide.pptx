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d05d29b9f6408f" /><Relationship Type="http://schemas.openxmlformats.org/officeDocument/2006/relationships/extended-properties" Target="/docProps/app.xml" Id="Rde16a5cb3f964a3d" /><Relationship Type="http://schemas.openxmlformats.org/officeDocument/2006/relationships/officeDocument" Target="/ppt/presentation.xml" Id="R982b8baf6cca44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1571b86a094a72"/>
  </p:sldMasterIdLst>
  <p:notesMasterIdLst>
    <p:notesMasterId xmlns:r="http://schemas.openxmlformats.org/officeDocument/2006/relationships" r:id="Ra98f0bc9a2054885"/>
  </p:notesMasterIdLst>
  <p:sldIdLst>
    <p:sldId xmlns:r="http://schemas.openxmlformats.org/officeDocument/2006/relationships" id="256" r:id="R7b7876f09c4d4eae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1571b86a094a72" /><Relationship Type="http://schemas.openxmlformats.org/officeDocument/2006/relationships/theme" Target="/ppt/theme/theme1.xml" Id="R1f226441b64b4bd2" /><Relationship Type="http://schemas.openxmlformats.org/officeDocument/2006/relationships/notesMaster" Target="/ppt/notesMasters/notesMaster1.xml" Id="Ra98f0bc9a2054885" /><Relationship Type="http://schemas.openxmlformats.org/officeDocument/2006/relationships/presProps" Target="/ppt/presProps.xml" Id="R560a5e02574645cd" /><Relationship Type="http://schemas.openxmlformats.org/officeDocument/2006/relationships/viewProps" Target="/ppt/viewProps.xml" Id="R0f654f0175934cef" /><Relationship Type="http://schemas.openxmlformats.org/officeDocument/2006/relationships/tableStyles" Target="/ppt/tableStyles.xml" Id="Rf8edf8cb5ab94f71" /><Relationship Type="http://schemas.openxmlformats.org/officeDocument/2006/relationships/slide" Target="/ppt/slides/slide1.xml" Id="R7b7876f09c4d4e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798fef20dba40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fd0b0458584d69" /><Relationship Type="http://schemas.openxmlformats.org/officeDocument/2006/relationships/notesMaster" Target="/ppt/notesMasters/notesMaster1.xml" Id="R70c7f75cfbee45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e01d7990134b0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6af1302cd444dcf" /><Relationship Type="http://schemas.openxmlformats.org/officeDocument/2006/relationships/slideLayout" Target="/ppt/slideLayouts/slideLayout2.xml" Id="Rd7df331abe2543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df331abe2543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d3f0f0a5734ff3" /><Relationship Type="http://schemas.openxmlformats.org/officeDocument/2006/relationships/notesSlide" Target="/ppt/notesSlides/notesSlide1.xml" Id="Rca5d9c4bcd49457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82D311-B399-4576-8B45-8B7C127F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0AF74-4BCC-4585-AE81-83B3C76E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метрики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47C67-8606-4F69-B1A9-386D3FD5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11239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B"/>
          </a:solidFill>
          <a:ln xmlns:a="http://schemas.openxmlformats.org/drawingml/2006/main" w="9525">
            <a:solidFill>
              <a:srgbClr val="E2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6637D-03BC-4C5D-942B-26F1BE2B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7162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03030"/>
                </a:solidFill>
                <a:latin typeface="Arial"/>
                <a:ea typeface="Arial"/>
                <a:cs typeface="Arial"/>
              </a:rPr>
              <a:t>Теоретические метрики для задач выделения объектов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FE4AF-26B8-4E66-8400-91B050F9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24050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28521-266B-494F-8412-208DF52A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19300"/>
            <a:ext cx="3067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0430F-3BA4-48D8-BCB8-E335C4AB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47900"/>
            <a:ext cx="3067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 = TP / (TP + FP)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DEC2D-3793-45D8-9F6B-6DDCE6A3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3067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точность найденных объектов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1C74A-421D-4979-A2AD-2FC21B2D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24050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6A93E-1694-4929-91E9-72936C35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19300"/>
            <a:ext cx="3067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D61A4-DB97-470B-BDA4-753D034E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47900"/>
            <a:ext cx="3067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 = TP / (TP + FN)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DF8B23-43A3-406A-BE9D-650C63FD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57450"/>
            <a:ext cx="3067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полнота найденных объектов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F2653-E193-4CBB-A1D6-0F949218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24050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58A71-4E37-45CF-9221-90B0B60A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19300"/>
            <a:ext cx="3067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F1-мера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2B0B3-309A-4FDF-A059-C29A631F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47900"/>
            <a:ext cx="3067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F1 = 2PR / (P + R)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1DB272-FDE4-4BB1-B748-03C1D470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57450"/>
            <a:ext cx="3067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баланс точности и полноты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C40A42-F2FD-48D8-AA0D-32240DA4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813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5B5B"/>
                </a:solidFill>
                <a:latin typeface="Arial"/>
                <a:ea typeface="Arial"/>
                <a:cs typeface="Arial"/>
              </a:rPr>
              <a:t>TP - истинно положительные; FP - ложноположительные; FN - ложноотрицательные.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EDC3A-3097-43D4-AC9B-C5818FC5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6BE2F8-454D-4C0B-A91D-D614CC67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2647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Модуль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106F85-2306-4D75-ACEE-861560E6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337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D00DFC-D882-49FB-92D4-F3731C69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371850"/>
            <a:ext cx="2362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Метрика проекта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A1CBD5-4EB1-4311-965B-2381F45D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65C4A2-35E4-4135-9911-B0257CFC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Значение*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18B7D6-5B52-48CE-9EFE-2B6C03ED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899A4C-D78E-44E0-9881-D569C609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71850"/>
            <a:ext cx="4267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Основание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BC867D-1B56-4050-BCDE-F90E35F4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276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4A89DF-1222-461F-8B36-45EB9B7C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67150"/>
            <a:ext cx="2647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Выделение</a:t>
            </a:r>
          </a:p>
          <a:p xmlns:a="http://schemas.openxmlformats.org/drawingml/2006/main">
            <a:pPr algn="l">
              <a:defRPr sz="15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блоков страницы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BBC974-AF01-484C-8004-6D249850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290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B64062-960D-4A04-8886-AE4FC9FE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867150"/>
            <a:ext cx="2362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F1-мера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D31560-439C-4F17-A46B-EF73E460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BF5BB5-49B1-4484-A3E9-DD9FB127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67150"/>
            <a:ext cx="1504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~0.93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A5C7FA-203A-4B01-99FE-3ED3B46E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29050"/>
            <a:ext cx="438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6B9402-A13C-4EDD-B287-CE4C2E29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4267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Ориентировочная оценка качества</a:t>
            </a:r>
          </a:p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структурного layout-анализа.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D5071A-CDB4-4D78-9AC8-7F799E69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276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05FBC9-946F-436B-A93E-0AE3DE9F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2647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OCR текстовых</a:t>
            </a:r>
          </a:p>
          <a:p xmlns:a="http://schemas.openxmlformats.org/drawingml/2006/main">
            <a:pPr algn="l">
              <a:defRPr sz="15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блоков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F9CDDA-0375-4D4F-8C63-370BEA36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482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0FBB57-1753-4639-8C90-FD9DA1C4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86300"/>
            <a:ext cx="2362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Средний confidence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044AE9-A148-4810-9380-DD818A56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5220BE-89D5-44A9-9FA6-9670F582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86300"/>
            <a:ext cx="1504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0.921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3FABA6-DB43-40BE-840E-2436FEF0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48200"/>
            <a:ext cx="438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DA628B-85A3-40CA-A9F7-9943E3CC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86300"/>
            <a:ext cx="4267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Фактическое значение по выборке</a:t>
            </a:r>
          </a:p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60 блоков; needs_review 6%.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EDA729-7719-4D29-BB37-306BC2C8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276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0F6DA0-B300-4A1D-8767-836A7CC0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05450"/>
            <a:ext cx="2647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Распознавание</a:t>
            </a:r>
          </a:p>
          <a:p xmlns:a="http://schemas.openxmlformats.org/drawingml/2006/main">
            <a:pPr algn="l">
              <a:defRPr sz="15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математических формул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CDFC02-217D-4B82-8738-31DA575A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673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1003F5-C2FF-4B8B-9B4C-B4A34921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505450"/>
            <a:ext cx="2362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Exact Match</a:t>
            </a:r>
          </a:p>
          <a:p xmlns:a="http://schemas.openxmlformats.org/drawingml/2006/main">
            <a:pPr algn="l">
              <a:defRPr sz="13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 LaTeX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275DD0-AD13-4C48-B190-1812B31E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673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FC302C-87C7-4A0B-9EBB-00625399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505450"/>
            <a:ext cx="1504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1F1F"/>
                </a:solidFill>
                <a:latin typeface="Arial"/>
                <a:ea typeface="Arial"/>
                <a:cs typeface="Arial"/>
              </a:rPr>
              <a:t>~85%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59E736-41C4-4F80-AF49-77DEA5D5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67350"/>
            <a:ext cx="438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259C07-5C4A-48D0-87CE-0A70657C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05450"/>
            <a:ext cx="4267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Оценка по тестовым примерам</a:t>
            </a:r>
          </a:p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и визуальной верификации.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129E9E-0D65-4865-BB91-1FF12960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19850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4E4E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BE2836-6FD3-476C-BFB5-5EFB29E1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572250"/>
            <a:ext cx="10839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* Значения по проекту: для OCR использована фактическая выборка 60 блоков; для layout и формул приведена ориентировочная оценка.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548F68-0336-40E7-A767-E1E5FD51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800850"/>
            <a:ext cx="10839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6E6E"/>
                </a:solidFill>
                <a:latin typeface="Arial"/>
                <a:ea typeface="Arial"/>
                <a:cs typeface="Arial"/>
              </a:rPr>
              <a:t>Источник: Manning C.D., Raghavan P., Schutze H. Introduction to Information Retrieval. Cambridge University Press, 2008. Ch. 8.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3FDA4B-05A3-402F-A5F2-CF54E442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8676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Вафина А.И.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04F1C68-18DD-4A82-B6A0-9B1CD4BB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7810500"/>
            <a:ext cx="771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Разработка системы автоматизации процесса формирования электронной коллекции научных</a:t>
            </a:r>
          </a:p>
          <a:p xmlns:a="http://schemas.openxmlformats.org/drawingml/2006/main">
            <a:pPr algn="ctr">
              <a:defRPr sz="1050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ретродокументов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89DADED-03F0-434F-8E98-15D0C48D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78676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16/19</a:t>
            </a:r>
          </a:p>
        </p:txBody>
      </p:sp>
    </p:spTree>
    <p:extLst>
      <p:ext uri="{BB962C8B-B14F-4D97-AF65-F5344CB8AC3E}">
        <p14:creationId xmlns:p14="http://schemas.microsoft.com/office/powerpoint/2010/main" val="4406836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2026-05-09T16:18:13.6430000Z</dcterms:created>
  <dcterms:modified xsi:type="dcterms:W3CDTF">2026-05-09T16:18:13.6430000Z</dcterms:modified>
</coreProperties>
</file>